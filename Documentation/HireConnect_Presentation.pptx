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F6B6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E8A33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 •  GRADUATION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HireConnect</a:t>
            </a:r>
            <a:endParaRPr lang="en-US" sz="4600" dirty="0"/>
          </a:p>
          <a:p>
            <a:pPr indent="0" marL="0">
              <a:buNone/>
            </a:pPr>
            <a:r>
              <a:rPr lang="en-US" sz="4600" dirty="0">
                <a:solidFill>
                  <a:srgbClr val="BFE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Seasonal Job Matching Platform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seasonal employers and job seekers in Egypt's agriculture, hospitality, retail, tourism, and construction sectors.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4206240" cy="1234440"/>
          </a:xfrm>
          <a:prstGeom prst="rect">
            <a:avLst/>
          </a:prstGeom>
          <a:solidFill>
            <a:srgbClr val="0F6B65">
              <a:alpha val="40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5720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
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Hicham Elmongui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86868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Market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94960" cy="86868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6060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260604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Reality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94960" cy="86868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65760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45920" y="36576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5394960" cy="86868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70916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470916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5394960" cy="86868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55448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15544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Security &amp; Matching Engine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606040"/>
            <a:ext cx="5394960" cy="86868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26060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15200" y="260604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Applications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3657600"/>
            <a:ext cx="5394960" cy="86868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365760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15200" y="36576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4709160"/>
            <a:ext cx="5394960" cy="86868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470916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15200" y="470916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Roadmap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Egypt's Youth Are Locked Out of Seasonal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ect">
            <a:avLst/>
          </a:prstGeom>
          <a:solidFill>
            <a:srgbClr val="E4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13.2%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 (ages 15-29), vs. 6.3% nationally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1965960"/>
          </a:xfrm>
          <a:prstGeom prst="rect">
            <a:avLst/>
          </a:prstGeom>
          <a:solidFill>
            <a:srgbClr val="E4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737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33.8%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among young women — vs. 8.1% for young men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20440" cy="1965960"/>
          </a:xfrm>
          <a:prstGeom prst="rect">
            <a:avLst/>
          </a:prstGeom>
          <a:solidFill>
            <a:srgbClr val="E4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737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21M+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66760" y="2514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aged 18-29 in Egypt (~20% of the population)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CAPMAS, 2025 — Egypt's labor force reached 34.15M in 2025 (up from 32.04M in 2024); total employment 32.02M.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employment in HireConnect's target industries (CAPMAS, 2025):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fishing: 6.57M   •   Wholesale &amp; retail trade: 5.24M   •   Manufacturing: 4.31M   •   Construction: 3.63M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Market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 — EGYPT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/ SAM / SOM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9601200" cy="1188720"/>
          </a:xfrm>
          <a:prstGeom prst="rect">
            <a:avLst/>
          </a:prstGeom>
          <a:solidFill>
            <a:srgbClr val="E4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164592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seasonal/temporary hiring events across the 5 target sectors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16459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1.0 - 2.0M events/yr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83080" y="2971800"/>
            <a:ext cx="7132320" cy="1188720"/>
          </a:xfrm>
          <a:prstGeom prst="rect">
            <a:avLst/>
          </a:prstGeom>
          <a:solidFill>
            <a:srgbClr val="CDE7E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30632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reachable subset — internet-connected employers &amp; seekers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3063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650K - 1.4M events/yr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17520" y="4389120"/>
            <a:ext cx="4663440" cy="1188720"/>
          </a:xfrm>
          <a:prstGeom prst="rect">
            <a:avLst/>
          </a:prstGeom>
          <a:solidFill>
            <a:srgbClr val="0F6B6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44805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448056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Year-1 pilot target, bounded by go-to-market capacity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44805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500-1,500 employer accounts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cluster proposal: Red Sea/South Sinai tourism corridor + Nile Delta agricultural belt — the two clusters with the clearest seasonal calendars. All figures are bounded estimates pending pilot validation, not cited statistics (CAPMAS does not publish a seasonal-labor breakout).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Market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Reason This Works Online...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7373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96.3M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users in Egypt (81.9% penetration)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20440" cy="17373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783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connections (~99% of population)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20440" cy="17373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783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51.6M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66760" y="2468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users — the dominant platform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64240" cy="1737360"/>
          </a:xfrm>
          <a:prstGeom prst="rect">
            <a:avLst/>
          </a:prstGeom>
          <a:solidFill>
            <a:srgbClr val="0B3B3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862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...is exactly why it's already a solved problem for free.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penetration that makes a mobile app viable is the same penetration that makes Facebook groups and WhatsApp chains the default seasonal-hiring channel today — free, zero onboarding, already liquid on both sides.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Market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Real Competitor Isn't LinkedIn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37744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4805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Currently Wins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social channels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groups, WhatsApp chains, foreman networks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zero onboarding, existing liquidity and social trust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job boards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LinkedIn, Indeed, Wuzzuf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long-term placement — not what seasonal employers actually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Gig-economy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Uber, Glovo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&amp; trusted, but locked to one service type — not an open marketplace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credible pain points HireConnect must solve — or lose to free channels: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5720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462272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cost: scrolling dozens of unstructured, unfiltered posts for current listings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50749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965192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no-show risk: no verification an applicant is real or will show up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57784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468112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history: neither side can see application status or a searchable profile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Market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Layers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480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job feed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apply with cover letter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status tracking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email notifications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jobs &amp; resume builder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4480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772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&amp; manage job listings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filter applicants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 with one click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credit balance &amp; purchase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4480560"/>
          </a:xfrm>
          <a:prstGeom prst="rect">
            <a:avLst/>
          </a:prstGeom>
          <a:solidFill>
            <a:srgbClr val="0B3B3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Engine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1248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274320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(Spring Boot)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JWT-secured, stateless auth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&amp; ranking logic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payments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The Full Picture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solidFill>
            <a:srgbClr val="E4F0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 — Employer Web App   |   Jobseeker Mobile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148840"/>
            <a:ext cx="0" cy="365760"/>
          </a:xfrm>
          <a:prstGeom prst="line">
            <a:avLst/>
          </a:prstGeom>
          <a:noFill/>
          <a:ln w="19050">
            <a:solidFill>
              <a:srgbClr val="5C6B6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84632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JWT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777240"/>
          </a:xfrm>
          <a:prstGeom prst="rect">
            <a:avLst/>
          </a:prstGeom>
          <a:solidFill>
            <a:srgbClr val="0F6B6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146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 — Controllers → Services → Repositories → JPA/Hibernate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3291840"/>
            <a:ext cx="0" cy="320040"/>
          </a:xfrm>
          <a:prstGeom prst="line">
            <a:avLst/>
          </a:prstGeom>
          <a:noFill/>
          <a:ln w="19050">
            <a:solidFill>
              <a:srgbClr val="5C6B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6072" y="3657600"/>
            <a:ext cx="2084832" cy="960120"/>
          </a:xfrm>
          <a:prstGeom prst="rect">
            <a:avLst/>
          </a:prstGeom>
          <a:solidFill>
            <a:srgbClr val="F3F7F6"/>
          </a:solidFill>
          <a:ln w="12700">
            <a:solidFill>
              <a:srgbClr val="D8E4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730752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" y="411480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07208" y="3657600"/>
            <a:ext cx="2084832" cy="960120"/>
          </a:xfrm>
          <a:prstGeom prst="rect">
            <a:avLst/>
          </a:prstGeom>
          <a:solidFill>
            <a:srgbClr val="F3F7F6"/>
          </a:solidFill>
          <a:ln w="12700">
            <a:solidFill>
              <a:srgbClr val="D8E4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98648" y="3730752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98648" y="411480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/ cache store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38344" y="3657600"/>
            <a:ext cx="2084832" cy="960120"/>
          </a:xfrm>
          <a:prstGeom prst="rect">
            <a:avLst/>
          </a:prstGeom>
          <a:solidFill>
            <a:srgbClr val="F3F7F6"/>
          </a:solidFill>
          <a:ln w="12700">
            <a:solidFill>
              <a:srgbClr val="D8E4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9784" y="3730752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9784" y="411480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3657600"/>
            <a:ext cx="2084832" cy="960120"/>
          </a:xfrm>
          <a:prstGeom prst="rect">
            <a:avLst/>
          </a:prstGeom>
          <a:solidFill>
            <a:srgbClr val="F3F7F6"/>
          </a:solidFill>
          <a:ln w="12700">
            <a:solidFill>
              <a:srgbClr val="D8E4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3730752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411480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00616" y="3657600"/>
            <a:ext cx="2084832" cy="960120"/>
          </a:xfrm>
          <a:prstGeom prst="rect">
            <a:avLst/>
          </a:prstGeom>
          <a:solidFill>
            <a:srgbClr val="F3F7F6"/>
          </a:solidFill>
          <a:ln w="12700">
            <a:solidFill>
              <a:srgbClr val="D8E4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92056" y="3730752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92056" y="411480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email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4617720"/>
            <a:ext cx="0" cy="320040"/>
          </a:xfrm>
          <a:prstGeom prst="line">
            <a:avLst/>
          </a:prstGeom>
          <a:noFill/>
          <a:ln w="19050">
            <a:solidFill>
              <a:srgbClr val="5C6B6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80360" y="4937760"/>
            <a:ext cx="2743200" cy="594360"/>
          </a:xfrm>
          <a:prstGeom prst="rect">
            <a:avLst/>
          </a:prstGeom>
          <a:solidFill>
            <a:srgbClr val="F3F7F6"/>
          </a:solidFill>
          <a:ln w="12700">
            <a:solidFill>
              <a:srgbClr val="D8E4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4937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5230368"/>
            <a:ext cx="2743200" cy="0"/>
          </a:xfrm>
          <a:prstGeom prst="line">
            <a:avLst/>
          </a:prstGeom>
          <a:noFill/>
          <a:ln w="19050">
            <a:solidFill>
              <a:srgbClr val="5C6B6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37960" y="4937760"/>
            <a:ext cx="2743200" cy="594360"/>
          </a:xfrm>
          <a:prstGeom prst="rect">
            <a:avLst/>
          </a:prstGeom>
          <a:solidFill>
            <a:srgbClr val="0B3B37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937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Heroku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design — horizontally scalable by adding dynos with zero code changes.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754880"/>
        </p:xfrm>
        <a:graphic>
          <a:graphicData uri="http://schemas.openxmlformats.org/drawingml/2006/table">
            <a:tbl>
              <a:tblPr/>
              <a:tblGrid>
                <a:gridCol w="2743200"/>
                <a:gridCol w="3474720"/>
                <a:gridCol w="4846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Chose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3.1 (Java 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Mature, production-grade, strong JPA ecosystem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compliance, native array types for skills/tags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/ Token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lookup, TTL-based token blacklisting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Security + JJWT 0.12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Industry-standard stateless JWT 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Notifications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Admin SDK 9.2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Cross-platform FCM, reliable 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Mail (SendGrid SMTP)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Transactional email with opt-in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Java SDK 24.22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PCI-compliant, session-based checkout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 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MapStruct + Lombok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Zero-boilerplate DTO ↔ Entity 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+ Heroku + GitHub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Container-first, automated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Key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94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↔ Job (Favorites)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ManyToMany. Neither side owns the other; JPA generates a clean junction table automatically.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611880" cy="2194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783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↔ Job (Applications)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37744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ManyToOne relations via a rich Application entity — needed because an application carries its own data (cover letter, status, interview details).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611880" cy="2194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1783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↔ Resume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83880" y="237744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OneToOne, optional — employers may not need a resume.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417820" cy="2194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160520"/>
            <a:ext cx="49606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↔ JobComment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754880"/>
            <a:ext cx="49606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OneToMany with a self-referencing parentComment field, enabling threaded replies.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3977640"/>
            <a:ext cx="5417820" cy="2194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4160520"/>
            <a:ext cx="49606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/ Requirements / Benefits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4754880"/>
            <a:ext cx="49606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PostgreSQL text[] arrays (Hypersistence Utils) — avoids extra lookup tables, supports the @&gt; contains operator.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RESTful API — 4 Core Domains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011680"/>
          </a:xfrm>
          <a:prstGeom prst="rect">
            <a:avLst/>
          </a:prstGeom>
          <a:solidFill>
            <a:srgbClr val="0F6B6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Edit profile, Get FOI tags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2011680"/>
          </a:xfrm>
          <a:prstGeom prst="rect">
            <a:avLst/>
          </a:prstGeom>
          <a:solidFill>
            <a:srgbClr val="0F6B6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7373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20440" y="2148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/api/jobs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514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Search, Edit, Delete listings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2011680"/>
          </a:xfrm>
          <a:prstGeom prst="rect">
            <a:avLst/>
          </a:prstGeom>
          <a:solidFill>
            <a:srgbClr val="0F6B6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7373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/api/resumes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 skills, Delete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06040" cy="2011680"/>
          </a:xfrm>
          <a:prstGeom prst="rect">
            <a:avLst/>
          </a:prstGeom>
          <a:solidFill>
            <a:srgbClr val="0F6B6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280" y="17373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98280" y="2148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/api/applications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98280" y="2514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View, Accept/Reject, Withdraw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5349240" cy="914400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7083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Layer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API-facing objects decoupled from DB entities — prevents password/data leaks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4297680"/>
            <a:ext cx="5349240" cy="914400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37083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Updates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63640" y="466344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requests merge changes server-side, not full replace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5349240" cy="914400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42239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Actions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" y="571500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patterns for lists prevent data overrides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5349240"/>
            <a:ext cx="5349240" cy="914400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542239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Errors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63640" y="571500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JSON error shape across all 4xx responses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— JWT Authentication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54533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credentials via POST /api/users/login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329891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2989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275027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CustomUserDetailsService retrieves matching user from DB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5958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5958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00471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verified using BCrypt hashing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89274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8927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73441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JWTService signs a token using the HS256 algorithm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18965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1896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464101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JWT returned to the client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60020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600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154533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attaches JWT to the Authorization header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2329891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32989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2275027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intercepts and extracts the token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305958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05958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300471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signature and expiry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3789274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78927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373441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CurrentUserService injects the authenticated principal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17920" y="4518965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451896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4464101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logout, token fingerprint is blacklisted in Redis with TTL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577840"/>
            <a:ext cx="10881360" cy="868680"/>
          </a:xfrm>
          <a:prstGeom prst="rect">
            <a:avLst/>
          </a:prstGeom>
          <a:solidFill>
            <a:srgbClr val="0F6B65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5778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architecture: no server-side sessions — Redis holds only the logout blacklist. Tokens are signed, not encrypted; no sensitive data lives in the payload.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Job Feed Is Ranked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406640" cy="621792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28216"/>
            <a:ext cx="365760" cy="365760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28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OPEN jobs from the database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7406640" cy="621792"/>
          </a:xfrm>
          <a:prstGeom prst="rect">
            <a:avLst/>
          </a:prstGeom>
          <a:solidFill>
            <a:srgbClr val="E4F0E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441448"/>
            <a:ext cx="365760" cy="365760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41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313432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full-text search scores jobs against resume text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26664"/>
            <a:ext cx="7406640" cy="621792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026664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boost for jobs matching the user's Fields of Interest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7406640" cy="621792"/>
          </a:xfrm>
          <a:prstGeom prst="rect">
            <a:avLst/>
          </a:prstGeom>
          <a:solidFill>
            <a:srgbClr val="E4F0E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867912"/>
            <a:ext cx="365760" cy="365760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67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39896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Skill-overlap score: resume skills ∩ job requirements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53128"/>
            <a:ext cx="7406640" cy="621792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453128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job type, work arrangement, and location preferences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7406640" cy="621792"/>
          </a:xfrm>
          <a:prstGeom prst="rect">
            <a:avLst/>
          </a:prstGeom>
          <a:solidFill>
            <a:srgbClr val="E4F0EE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294376"/>
            <a:ext cx="365760" cy="365760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94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5166360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composite score, descending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0" y="1600200"/>
            <a:ext cx="3383280" cy="4297680"/>
          </a:xfrm>
          <a:prstGeom prst="rect">
            <a:avLst/>
          </a:prstGeom>
          <a:solidFill>
            <a:srgbClr val="0B3B3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58200" y="1783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used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58200" y="219456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of Interest (category tags)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relevance (tsvector/tsquery)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Skill-overlap percentage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 &amp; work-arrangement fit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semantic embeddings (roadmap)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Web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3619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login and registration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6916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53619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rich job postings — type, salary model, work arrangement, benefits, requirements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8775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listings with partial updates — add/remove requirements without a full rewrite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7432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58775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applicants per job with cover letter and resume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3931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 with automatic candidate notification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63931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 — date, time, location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9087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Jobs" dashboard filtered by status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8463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69087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credit indicator — remaining posts before purchase is needed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64240" cy="18288"/>
          </a:xfrm>
          <a:prstGeom prst="rect">
            <a:avLst/>
          </a:prstGeom>
          <a:solidFill>
            <a:srgbClr val="D8E4E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Jobseeker Mobile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28016" cy="128016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90472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with profile photo and personal details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128016" cy="128016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490472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 — education, experience, certificates, skills, languages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128016" cy="128016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2316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— camera or photo library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578608"/>
            <a:ext cx="128016" cy="128016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2316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job feed powered by the matching engine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28016" cy="128016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5584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by type, location, salary, arrangement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511296"/>
            <a:ext cx="128016" cy="128016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35584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apply with optional cover letter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128016" cy="128016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88536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Applications" tracker with real-time status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443984"/>
            <a:ext cx="128016" cy="128016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288536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(Firebase) + email opt-in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76672"/>
            <a:ext cx="128016" cy="128016"/>
          </a:xfrm>
          <a:prstGeom prst="ellipse">
            <a:avLst/>
          </a:prstGeom>
          <a:solidFill>
            <a:srgbClr val="0F6B6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21224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jobs to review later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Self-Contained OTA Update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Flow &amp; Classifications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Mandatory Updates: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major version increments or [MANDATORY] tags in release titles. Disables system back navigation using PopScope wrappers to block outdated transactions.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Updates: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via Modal Bottom Sheet. Users can dismiss it, which caches a timestamp in Secure Storage, suppressing the prompt for exactly 24 hours.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Settings Badge Indicator: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snooze places a subtle red badge on the settings tab, offering a non-intrusive way to trigger the update.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ect">
            <a:avLst/>
          </a:prstGeom>
          <a:solidFill>
            <a:srgbClr val="0B3B3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 FLOW STATE MACHINE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12280" y="2240280"/>
            <a:ext cx="4251960" cy="731520"/>
          </a:xfrm>
          <a:prstGeom prst="rect">
            <a:avLst/>
          </a:prstGeom>
          <a:solidFill>
            <a:srgbClr val="0F6B65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2240280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GitHub Releases API &amp; Parse SemVer Tags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38260" y="2971800"/>
            <a:ext cx="0" cy="64008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12280" y="3611880"/>
            <a:ext cx="4251960" cy="731520"/>
          </a:xfrm>
          <a:prstGeom prst="rect">
            <a:avLst/>
          </a:prstGeom>
          <a:solidFill>
            <a:srgbClr val="0F6B65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3611880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24-Hour Snooze Timestamp from Secure Storage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38260" y="4343400"/>
            <a:ext cx="0" cy="64008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12280" y="4983480"/>
            <a:ext cx="4251960" cy="731520"/>
          </a:xfrm>
          <a:prstGeom prst="rect">
            <a:avLst/>
          </a:prstGeom>
          <a:solidFill>
            <a:srgbClr val="0F6B65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4983480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Snooze? Bypass Sheets  |  Expired? Prompt Update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Security &amp; In-App Feedback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Integrity &amp; Auth Interceptor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AuthInterceptor: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Dio wrapper that automatically appends JWT Bearer headers to requests and catches 401/403 token expirations.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AuthDialogManager: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in-memory semaphore structure to intercept parallel requests, preventing multiple concurrent 'Session Expired' popups.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 Reset on Logout: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all 13 Riverpod providers to avoid cached data leakage on shared devices (crucial for seasonal workers).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In-App Feedback &amp; Anonymous Submission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 Toggle: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job seekers to report application/layout bugs anonymously, removing any personal identity markers.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Payload Sanitization: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toggle is active, the notifier excludes userEmail parameters from the JSON request, mapping only body strings.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Riverpod Notifier State: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AsyncNotifier to wrap submit actions, managing loading states, error toast bars, and validation rules globally.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Benchmarks &amp; Memory Limits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349240" cy="2743200"/>
        </p:xfrm>
        <a:graphic>
          <a:graphicData uri="http://schemas.openxmlformats.org/drawingml/2006/table">
            <a:tbl>
              <a:tblPr/>
              <a:tblGrid>
                <a:gridCol w="1691640"/>
                <a:gridCol w="1965960"/>
                <a:gridCol w="1691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Execution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~8.10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~14.50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(&lt; 16.6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349240" cy="2103120"/>
        </p:xfrm>
        <a:graphic>
          <a:graphicData uri="http://schemas.openxmlformats.org/drawingml/2006/table">
            <a:tbl>
              <a:tblPr/>
              <a:tblGrid>
                <a:gridCol w="1691640"/>
                <a:gridCol w="1965960"/>
                <a:gridCol w="169164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in Heap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Memory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30,000+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~45.0 MB+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OOM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4800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Justification: The benchmarks confirm that Riverpod's state updates are highly scalable (calculating 100,000 entries in 14.5ms, well within single-frame budgets). However, widget inflation in the Flutter layout tree creates high RAM footprints. This validates our Hybrid Pagination Strategy, which pauses auto-scrolling at 200 items to avoid out-of-memory errors on low-end hardware.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Aggregation &amp; Optimistic State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Query Aggregation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Latency Mitigation: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multiple sequential round-trips when rendering the profile page, the app aggregates endpoints concurrently.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Concurrent Fetching: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Future.wait to combine user profile, applied job list, favorite job list, and interest chips into a single unified stream.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Bound: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Time-to-Interactive (TTI) is limited only by the slowest single endpoint, rather than the sum of all four.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Optimistic UI Updates &amp; Rollback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Perceived Performance: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toggles (e.g., toggling a favorite heart icon) occur instantly in the UI state without waiting for network confirmations.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Rollback Loop: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FavoritesController caches the previousState. If the asynchronous HTTP request fails, the controller catches the error, restores the old state, and alerts the user.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 Invalidation: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success, related provider lists are invalidated (favoriteJobsProvider) to pull updated card lists behind the scenes.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User-Selected Multi-Currency Support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Dropdown Selection &amp; Backend Sync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Currency Dropdown Selection: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dynamically select their preferred currency (e.g., USD, EGP, SAR) in the application settings dropdown.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Asynchronous Synchronization: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a currency sends a PATCH request updating the preferred currency key on the user profile endpoint (/api/users/{uid}).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Cache Persistence: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currency is instantly synchronized with the personalInformationProvider state in Riverpod.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Invalidation &amp; Local Formatting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Reactive Feed Invalidation: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manual screen refresh, PaginatedJobs and RecommendedJobsNotifier watch the currency state and auto-invalidate/reload listings immediately.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Declarative Invalidation Snippet: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ref.watch(personalInformationProvider.select((u) =&gt; u.value?.currency));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 Currency Formatting: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salary values are dynamically formatted utilizing Dart's intl simpleCurrency helper based on the active currency name code (e.g. $1,200 or EGP 15,000).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Monetization — What's Actually Implemented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97280"/>
          </a:xfrm>
          <a:prstGeom prst="rect">
            <a:avLst/>
          </a:prstGeom>
          <a:solidFill>
            <a:srgbClr val="0F6B6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revenue stream: job-posting credit packages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buy 5 job-posting credits per Stripe purchase. Everything else below is roadmap, not current revenue.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76072" y="3017520"/>
            <a:ext cx="2084832" cy="914400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4290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buys credits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60904" y="3474720"/>
            <a:ext cx="146304" cy="0"/>
          </a:xfrm>
          <a:prstGeom prst="line">
            <a:avLst/>
          </a:prstGeom>
          <a:noFill/>
          <a:ln w="19050">
            <a:solidFill>
              <a:srgbClr val="5C6B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07208" y="3017520"/>
            <a:ext cx="2084832" cy="914400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11" name="Text 9"/>
          <p:cNvSpPr/>
          <p:nvPr/>
        </p:nvSpPr>
        <p:spPr>
          <a:xfrm>
            <a:off x="2944368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44368" y="34290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starts Stripe session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2040" y="3474720"/>
            <a:ext cx="146304" cy="0"/>
          </a:xfrm>
          <a:prstGeom prst="line">
            <a:avLst/>
          </a:prstGeom>
          <a:noFill/>
          <a:ln w="19050">
            <a:solidFill>
              <a:srgbClr val="5C6B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38344" y="3017520"/>
            <a:ext cx="2084832" cy="914400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15" name="Text 13"/>
          <p:cNvSpPr/>
          <p:nvPr/>
        </p:nvSpPr>
        <p:spPr>
          <a:xfrm>
            <a:off x="5175504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75504" y="34290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completes checkout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23176" y="3474720"/>
            <a:ext cx="146304" cy="0"/>
          </a:xfrm>
          <a:prstGeom prst="line">
            <a:avLst/>
          </a:prstGeom>
          <a:noFill/>
          <a:ln w="19050">
            <a:solidFill>
              <a:srgbClr val="5C6B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69480" y="3017520"/>
            <a:ext cx="2084832" cy="914400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34290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webhook confirms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54312" y="3474720"/>
            <a:ext cx="146304" cy="0"/>
          </a:xfrm>
          <a:prstGeom prst="line">
            <a:avLst/>
          </a:prstGeom>
          <a:noFill/>
          <a:ln w="19050">
            <a:solidFill>
              <a:srgbClr val="5C6B6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0616" y="3017520"/>
            <a:ext cx="2084832" cy="914400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23" name="Text 21"/>
          <p:cNvSpPr/>
          <p:nvPr/>
        </p:nvSpPr>
        <p:spPr>
          <a:xfrm>
            <a:off x="9637776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37776" y="34290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added to account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remain free — deliberately. They're the harder side to acquire; charging them would suppress the liquidity employers are paying for.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489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only — not built, priced, or validated: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2578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 Employer subscription plans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52578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 Paid AI applicant-ranking tier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7150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 Premium employer analytics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80760" y="57150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 Corporate recruitment packages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74320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594360"/>
          </a:xfrm>
          <a:prstGeom prst="rect">
            <a:avLst/>
          </a:prstGeom>
          <a:solidFill>
            <a:srgbClr val="0F6B6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Seekers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job discovery than scrolling social feeds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application with status tracking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AR/EN bilingual, RTL support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email status updates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349240" cy="274320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0760" y="1600200"/>
            <a:ext cx="5349240" cy="594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6002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55080" y="23774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applicant-screening time via ranking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verifiable applicant history — mitigates no-show risk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Draft/publish job posting workflow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solidFill>
            <a:srgbClr val="0B3B3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career centers, seasonal employer associations, Stripe, Heroku, Firebase, SendGrid.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web portal, Android/iOS app, university career-center partnerships, direct employer field outreach.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 — Pilot-Scale Estimates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below are estimates for planning purposes, built from published vendor pricing and reasonable assumptions — not actual usage data. None exists pre-launch.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943600" cy="3657600"/>
        </p:xfrm>
        <a:graphic>
          <a:graphicData uri="http://schemas.openxmlformats.org/drawingml/2006/table">
            <a:tbl>
              <a:tblPr/>
              <a:tblGrid>
                <a:gridCol w="393192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line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monthly cost (USD)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Heroku web dynos (standard)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$50 - 100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Heroku managed 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$50 - 90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add-on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$15 - 50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Matching-engine compute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$50 - 70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SendGrid (paid tier)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$20 - 30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Cloud Messaging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(free tier at pilot scale)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$185 - 345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2011680"/>
            <a:ext cx="4846320" cy="3657600"/>
          </a:xfrm>
          <a:prstGeom prst="rect">
            <a:avLst/>
          </a:prstGeom>
          <a:solidFill>
            <a:srgbClr val="0B3B37"/>
          </a:solidFill>
          <a:ln/>
        </p:spPr>
      </p:sp>
      <p:sp>
        <p:nvSpPr>
          <p:cNvPr id="7" name="Text 4"/>
          <p:cNvSpPr/>
          <p:nvPr/>
        </p:nvSpPr>
        <p:spPr>
          <a:xfrm>
            <a:off x="6995160" y="2194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logic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95160" y="265176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price: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500 / ~$10 per 5-credit package (illustrative — not yet validated against employer willingness-to-pay)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per package after Stripe fees: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~$9.60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needed to cover the $265/mo midpoint infra estimate: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95160" y="48463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28 packages / month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995160" y="5349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only if a meaningful share of the 500-1,500 Year-1 employer accounts convert to paid postings — a go-to-market execution question, not a market-size question.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— Solving the Cold Start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3657600"/>
          </a:xfrm>
          <a:prstGeom prst="rect">
            <a:avLst/>
          </a:prstGeom>
          <a:solidFill>
            <a:srgbClr val="0F6B6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Employer-first seeding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outreach to 50-100 anchor employers in one seasonal cluster before any seeker marketing begins — so the feed isn't empty on day one.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606040" cy="3657600"/>
          </a:xfrm>
          <a:prstGeom prst="rect">
            <a:avLst/>
          </a:prstGeom>
          <a:solidFill>
            <a:srgbClr val="0B3B3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8288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Seeker acquisition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20440" y="265176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career centers near the pilot cluster, timed 4-6 weeks ahead of the seasonal hiring window.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606040" cy="3657600"/>
          </a:xfrm>
          <a:prstGeom prst="rect">
            <a:avLst/>
          </a:prstGeom>
          <a:solidFill>
            <a:srgbClr val="0F6B6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8288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Discount trial pricing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09360" y="265176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First-credit-package discount for anchor employers to generate the first cohort of applications for the matching engine to learn from.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645920"/>
            <a:ext cx="2606040" cy="3657600"/>
          </a:xfrm>
          <a:prstGeom prst="rect">
            <a:avLst/>
          </a:prstGeom>
          <a:solidFill>
            <a:srgbClr val="0B3B3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18288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Cluster-by-cluster expansion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098280" y="265176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cluster restarts employer-first seeding — slower than a broad launch but avoids diluting density.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sequencing is a proposal, not a validated plan — it needs pressure-testing against real employer-association or career-center relationships before it goes in a final report as tested fact.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37944"/>
            <a:ext cx="365760" cy="365760"/>
          </a:xfrm>
          <a:prstGeom prst="ellipse">
            <a:avLst/>
          </a:prstGeom>
          <a:solidFill>
            <a:srgbClr val="C046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37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673352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Facebook/WhatsApp inertia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97680" y="1673352"/>
            <a:ext cx="7178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adoption threat. If the pilot can't show measurably lower discovery cost or no-show risk, paid conversion stalls regardless of product quality.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752344"/>
            <a:ext cx="365760" cy="365760"/>
          </a:xfrm>
          <a:prstGeom prst="ellipse">
            <a:avLst/>
          </a:prstGeom>
          <a:solidFill>
            <a:srgbClr val="C046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52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587752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seasonality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97680" y="2587752"/>
            <a:ext cx="7178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Credit-package revenue clusters around harvest/tourist peaks — cash flow must be modeled as seasonal, not smoothed.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64240" cy="841248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666744"/>
            <a:ext cx="365760" cy="365760"/>
          </a:xfrm>
          <a:prstGeom prst="ellipse">
            <a:avLst/>
          </a:prstGeom>
          <a:solidFill>
            <a:srgbClr val="C046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66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502152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cold start failure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297680" y="3502152"/>
            <a:ext cx="7178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either side fails to reach critical mass in the pilot cluster, the matching engine has nothing to learn from.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C0463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416552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Informal/cash economy mismatch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97680" y="4416552"/>
            <a:ext cx="7178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portion of seasonal hiring is cash-and-verbal, outside any formal system — not every match converts to a trackable outcome.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64240" cy="841248"/>
          </a:xfrm>
          <a:prstGeom prst="rect">
            <a:avLst/>
          </a:prstGeom>
          <a:solidFill>
            <a:srgbClr val="F3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495544"/>
            <a:ext cx="365760" cy="365760"/>
          </a:xfrm>
          <a:prstGeom prst="ellipse">
            <a:avLst/>
          </a:prstGeom>
          <a:solidFill>
            <a:srgbClr val="C0463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495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5330952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Matching-engine dependency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297680" y="5330952"/>
            <a:ext cx="7178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ranking service becomes unavailable, the platform degrades to an unranked job board — an acceptable but explicit fallback.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&amp; Where We're Going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ect">
            <a:avLst/>
          </a:prstGeom>
          <a:solidFill>
            <a:srgbClr val="E4F0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RESTful backend (Users, Jobs, Resumes, Applications, Comments, Notifications)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with Redis token blacklisting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 + SendGrid email notifications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 integration + job credit system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Heroku deployment, GitHub Actions CI/CD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Full-text-search + skill-overlap matching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web app &amp; jobseeker mobile app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ect">
            <a:avLst/>
          </a:prstGeom>
          <a:solidFill>
            <a:srgbClr val="0B3B3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embedding-based matching (NLP vector similarity)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 (employer ↔ jobseeker)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review system for both sides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moderation panel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subscriptions, premium analytics, corporate packages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market expansion + full Arabic localization (strategic vision — contingent on Egypt-pilot validation)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 &amp; Dedication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92608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594360"/>
          </a:xfrm>
          <a:prstGeom prst="rect">
            <a:avLst/>
          </a:prstGeom>
          <a:solidFill>
            <a:srgbClr val="0F6B6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My Parents &amp; Family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their endless patience and sacrifices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their constant encouragement during difficult phases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their unwavering support throughout my academic journey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349240" cy="2926080"/>
          </a:xfrm>
          <a:prstGeom prst="rect">
            <a:avLst/>
          </a:prstGeom>
          <a:solidFill>
            <a:srgbClr val="F3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0760" y="1600200"/>
            <a:ext cx="5349240" cy="594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6002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My Supervisor &amp; Faculty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55080" y="237744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Hicham Elmongui for his continuous guidance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his insightful academic reviews and mentorship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 of Computer Engineering for their core support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1064240" cy="1097280"/>
          </a:xfrm>
          <a:prstGeom prst="rect">
            <a:avLst/>
          </a:prstGeom>
          <a:solidFill>
            <a:srgbClr val="0B3B3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with respect and gratitude to those who inspired, guided, and supported this endeavor from inception to defense.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F6B6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E8A33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338328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narrower, more credible business model — one implemented revenue stream, an Egypt-only pilot, and monetization headroom that's real but unbuilt.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for your questions.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Seasonal Job Matching Platform — HireConnect</dc:title>
  <dc:subject>PptxGenJS Presentation</dc:subject>
  <dc:creator>HireConnect Team</dc:creator>
  <cp:lastModifiedBy>HireConnect Team</cp:lastModifiedBy>
  <cp:revision>1</cp:revision>
  <dcterms:created xsi:type="dcterms:W3CDTF">2026-07-03T14:48:13Z</dcterms:created>
  <dcterms:modified xsi:type="dcterms:W3CDTF">2026-07-03T14:48:13Z</dcterms:modified>
</cp:coreProperties>
</file>