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66" y="-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79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Mobile App Offers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383280" cy="658368"/>
          </a:xfrm>
          <a:prstGeom prst="rect">
            <a:avLst/>
          </a:prstGeom>
          <a:solidFill>
            <a:srgbClr val="E8A33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435608"/>
            <a:ext cx="3383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739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job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383280" cy="658368"/>
          </a:xfrm>
          <a:prstGeom prst="rect">
            <a:avLst/>
          </a:prstGeom>
          <a:solidFill>
            <a:srgbClr val="E8A33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0" y="1435608"/>
            <a:ext cx="3383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17739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instantly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75320" y="1417320"/>
            <a:ext cx="3383280" cy="658368"/>
          </a:xfrm>
          <a:prstGeom prst="rect">
            <a:avLst/>
          </a:prstGeom>
          <a:solidFill>
            <a:srgbClr val="E8A33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75320" y="1435608"/>
            <a:ext cx="33832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177393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informed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240280"/>
            <a:ext cx="3383280" cy="3931920"/>
          </a:xfrm>
          <a:prstGeom prst="rect">
            <a:avLst/>
          </a:prstGeom>
          <a:solidFill>
            <a:srgbClr val="0F6B65">
              <a:alpha val="45000"/>
            </a:srgbClr>
          </a:solidFill>
          <a:ln w="12700">
            <a:solidFill>
              <a:srgbClr val="E8A3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RESUME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83464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personal details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 — education, experience, skills, certifications, languages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9120" y="2240280"/>
            <a:ext cx="3383280" cy="3931920"/>
          </a:xfrm>
          <a:prstGeom prst="rect">
            <a:avLst/>
          </a:prstGeom>
          <a:solidFill>
            <a:srgbClr val="0F6B65">
              <a:alpha val="45000"/>
            </a:srgbClr>
          </a:solidFill>
          <a:ln w="12700">
            <a:solidFill>
              <a:srgbClr val="E8A3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DISCOVERY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feed — ranked by matching engine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by type, salary, location, arrangement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jobs to review later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75320" y="2240280"/>
            <a:ext cx="3383280" cy="3931920"/>
          </a:xfrm>
          <a:prstGeom prst="rect">
            <a:avLst/>
          </a:prstGeom>
          <a:solidFill>
            <a:srgbClr val="0F6B65">
              <a:alpha val="45000"/>
            </a:srgbClr>
          </a:solidFill>
          <a:ln w="12700">
            <a:solidFill>
              <a:srgbClr val="E8A3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58200" y="2377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NOTIFICATIONS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283464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apply with optional cover letter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tracker — real-time status updates</a:t>
            </a:r>
            <a:endParaRPr lang="en-US" sz="125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(Firebase FCM) + email opt-in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Architecture &amp; Navigation 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178040" y="1600200"/>
            <a:ext cx="4434840" cy="457200"/>
          </a:xfrm>
          <a:prstGeom prst="rect">
            <a:avLst/>
          </a:prstGeom>
          <a:solidFill>
            <a:srgbClr val="0B3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78040" y="160020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 — 4 TABS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78040" y="2148840"/>
            <a:ext cx="4434840" cy="822960"/>
          </a:xfrm>
          <a:prstGeom prst="rect">
            <a:avLst/>
          </a:prstGeom>
          <a:solidFill>
            <a:srgbClr val="F3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60920" y="22219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— Home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60920" y="253288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jobs &amp; Saved jobs (Favorites)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78040" y="3154680"/>
            <a:ext cx="4434840" cy="822960"/>
          </a:xfrm>
          <a:prstGeom prst="rect">
            <a:avLst/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60920" y="322783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— Jobs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60920" y="353872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jobs list, search, filters &amp; work arrangements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4160520"/>
            <a:ext cx="4434840" cy="822960"/>
          </a:xfrm>
          <a:prstGeom prst="rect">
            <a:avLst/>
          </a:prstGeom>
          <a:solidFill>
            <a:srgbClr val="F3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60920" y="423367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 — Applied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60920" y="454456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status tracker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78040" y="5166360"/>
            <a:ext cx="4434840" cy="822960"/>
          </a:xfrm>
          <a:prstGeom prst="rect">
            <a:avLst/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60920" y="523951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4 — Profile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60920" y="5550408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profile, resume builder, app settings &amp; info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78040" y="6281928"/>
            <a:ext cx="4434840" cy="320040"/>
          </a:xfrm>
          <a:prstGeom prst="rect">
            <a:avLst/>
          </a:prstGeom>
          <a:solidFill>
            <a:srgbClr val="E8A33D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78040" y="628192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B3B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Startup: OTA version check runs before any screen loads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E722991-02B4-3D36-0872-8A893D8EF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65" y="1658809"/>
            <a:ext cx="6358915" cy="46376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Don't Store JWT in SharedPreferences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200400"/>
          </a:xfrm>
          <a:prstGeom prst="rect">
            <a:avLst/>
          </a:prstGeom>
          <a:solidFill>
            <a:srgbClr val="0F6B65">
              <a:alpha val="45000"/>
            </a:srgbClr>
          </a:solidFill>
          <a:ln w="19050">
            <a:solidFill>
              <a:srgbClr val="C0463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1907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4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SharedPreferences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892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plain XML on disk: /data/data/&lt;package&gt;/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by any process with root access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encrypted at the OS level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 by default — token survives app uninstall on some devices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iOS Keychain equivalent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3200400"/>
          </a:xfrm>
          <a:prstGeom prst="rect">
            <a:avLst/>
          </a:prstGeom>
          <a:solidFill>
            <a:srgbClr val="0F6B65">
              <a:alpha val="45000"/>
            </a:srgbClr>
          </a:solidFill>
          <a:ln w="19050">
            <a:solidFill>
              <a:srgbClr val="E8A3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71907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flutter_secure_storage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89204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Android: Android Keystore + EncryptedSharedPreferences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iOS: native Keychain Services API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hardware-bound on supported devices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on app uninstall (unlike cloud-backed prefs)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~1–3 ms read vs ~0.1 ms — negligible in a login flow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wiped on factory reset → user simply re-authenticates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4983480"/>
            <a:ext cx="5349240" cy="1188720"/>
          </a:xfrm>
          <a:prstGeom prst="rect">
            <a:avLst/>
          </a:prstGeom>
          <a:solidFill>
            <a:srgbClr val="E8A33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498348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B3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performance penalty is negligible.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i="1" dirty="0">
                <a:solidFill>
                  <a:srgbClr val="0B3B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boundary is not optional."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5C48B3C-C726-34E2-D494-F7BA51F09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" y="4983480"/>
            <a:ext cx="3959801" cy="1348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Flow &amp; Dio Interceptor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406640" y="1600200"/>
            <a:ext cx="4206240" cy="2103120"/>
          </a:xfrm>
          <a:prstGeom prst="rect">
            <a:avLst/>
          </a:prstGeom>
          <a:solidFill>
            <a:srgbClr val="0F6B65">
              <a:alpha val="50000"/>
            </a:srgbClr>
          </a:solidFill>
          <a:ln w="12700">
            <a:solidFill>
              <a:srgbClr val="E8A3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0" y="1719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AuthInterceptor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0" y="21031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Dio wrapper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JWT from flutter_secure_storage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Authorization: Bearer &lt;token&gt; to every request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401 / 403 → delegates to AuthDialogManager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logic never reaches the UI 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3840480"/>
            <a:ext cx="4206240" cy="2240280"/>
          </a:xfrm>
          <a:prstGeom prst="rect">
            <a:avLst/>
          </a:prstGeom>
          <a:solidFill>
            <a:srgbClr val="0F6B65">
              <a:alpha val="50000"/>
            </a:srgbClr>
          </a:solidFill>
          <a:ln w="12700">
            <a:solidFill>
              <a:srgbClr val="E8A3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0" y="3950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AuthDialogManager — Semaphore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589520" y="4370832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page fires 4 parallel calls. All 4 return 401 simultaneously → 4 dialogs stack.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Solution — boolean semaphore:
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401 → raise flag → show dialog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Subsequent 401s → flag is true → silently swallowed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F20120-8545-3614-EE8A-B534D4E87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201" y="1333318"/>
            <a:ext cx="4502799" cy="50143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Logout &amp; Multi-Account Cache Isolation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178040" y="1600200"/>
            <a:ext cx="4434840" cy="3520440"/>
          </a:xfrm>
          <a:prstGeom prst="rect">
            <a:avLst/>
          </a:prstGeom>
          <a:solidFill>
            <a:srgbClr val="F3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60920" y="17373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cached — providers: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60920" y="2148840"/>
            <a:ext cx="40690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data — name, photo, role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data — skills, education, experience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jobs list — status per job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jobs list — bookmarked IDs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tags — field-of-interest chips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feed pages — paginated results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 — last query + filters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— unread count + list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setting — selected code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setting — AR / EN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 — contact details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state — current principal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78040" y="5257800"/>
            <a:ext cx="4434840" cy="914400"/>
          </a:xfrm>
          <a:prstGeom prst="rect">
            <a:avLst/>
          </a:prstGeom>
          <a:solidFill>
            <a:srgbClr val="0B3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0" y="5303520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 a shared device, skipping any one of these leaks the previous user's data to the next. Seasonal workers share devices — this is a real scenario."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1B3EB26-EEAC-8657-E535-FD3D2B4D8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81328"/>
            <a:ext cx="6119788" cy="43245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B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 Store Problem — Why We Built Our Own Update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2606040" cy="731520"/>
          </a:xfrm>
          <a:prstGeom prst="rect">
            <a:avLst/>
          </a:prstGeom>
          <a:solidFill>
            <a:srgbClr val="0F6B65">
              <a:alpha val="60000"/>
            </a:srgbClr>
          </a:solidFill>
          <a:ln w="12700">
            <a:solidFill>
              <a:srgbClr val="5C6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signs APK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920240"/>
            <a:ext cx="182880" cy="0"/>
          </a:xfrm>
          <a:prstGeom prst="line">
            <a:avLst/>
          </a:prstGeom>
          <a:noFill/>
          <a:ln w="19050">
            <a:solidFill>
              <a:srgbClr val="5C6B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731520"/>
          </a:xfrm>
          <a:prstGeom prst="rect">
            <a:avLst/>
          </a:prstGeom>
          <a:solidFill>
            <a:srgbClr val="0F6B65">
              <a:alpha val="60000"/>
            </a:srgbClr>
          </a:solidFill>
          <a:ln w="12700">
            <a:solidFill>
              <a:srgbClr val="5C6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20440" y="15544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to Play Store ($25 one-time fee)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920240"/>
            <a:ext cx="182880" cy="0"/>
          </a:xfrm>
          <a:prstGeom prst="line">
            <a:avLst/>
          </a:prstGeom>
          <a:noFill/>
          <a:ln w="19050">
            <a:solidFill>
              <a:srgbClr val="5C6B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2606040" cy="731520"/>
          </a:xfrm>
          <a:prstGeom prst="rect">
            <a:avLst/>
          </a:prstGeom>
          <a:solidFill>
            <a:srgbClr val="0F6B65">
              <a:alpha val="60000"/>
            </a:srgbClr>
          </a:solidFill>
          <a:ln w="12700">
            <a:solidFill>
              <a:srgbClr val="5C6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5544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notifies all installed users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1920240"/>
            <a:ext cx="182880" cy="0"/>
          </a:xfrm>
          <a:prstGeom prst="line">
            <a:avLst/>
          </a:prstGeom>
          <a:noFill/>
          <a:ln w="19050">
            <a:solidFill>
              <a:srgbClr val="5C6B6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0" y="1554480"/>
            <a:ext cx="2606040" cy="731520"/>
          </a:xfrm>
          <a:prstGeom prst="rect">
            <a:avLst/>
          </a:prstGeom>
          <a:solidFill>
            <a:srgbClr val="0F6B65">
              <a:alpha val="60000"/>
            </a:srgbClr>
          </a:solidFill>
          <a:ln w="12700">
            <a:solidFill>
              <a:srgbClr val="5C6B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098280" y="15544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0976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downloads with one tap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468880"/>
            <a:ext cx="11064240" cy="1463040"/>
          </a:xfrm>
          <a:prstGeom prst="rect">
            <a:avLst/>
          </a:prstGeom>
          <a:solidFill>
            <a:srgbClr val="0F6B65">
              <a:alpha val="40000"/>
            </a:srgbClr>
          </a:solidFill>
          <a:ln w="190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2578608"/>
            <a:ext cx="10607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Constraint
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graduation project, the Play Store fee is a cost we chose not to commit to before validating the product. We still required: automated APK builds on every push, user update notifications, and frictionless download.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5394960" cy="1417320"/>
          </a:xfrm>
          <a:prstGeom prst="rect">
            <a:avLst/>
          </a:prstGeom>
          <a:solidFill>
            <a:srgbClr val="0F6B65">
              <a:alpha val="50000"/>
            </a:srgbClr>
          </a:solidFill>
          <a:ln w="12700">
            <a:solidFill>
              <a:srgbClr val="E8A3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2245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 — Build automation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455371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GitHub Actions CI/CD — builds and publishes a new APK release on every push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114800"/>
            <a:ext cx="5394960" cy="1417320"/>
          </a:xfrm>
          <a:prstGeom prst="rect">
            <a:avLst/>
          </a:prstGeom>
          <a:solidFill>
            <a:srgbClr val="0F6B65">
              <a:alpha val="50000"/>
            </a:srgbClr>
          </a:solidFill>
          <a:ln w="12700">
            <a:solidFill>
              <a:srgbClr val="E8A3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42245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 — Update notification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46520" y="4553712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Mobile client queries GitHub Releases API directly — no backend relay needed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intermediary — one fewer network hop — no extra backend code required.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OTA Implementation — Mandatory vs Optional &amp; Snooze Flow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15A371-B6DC-FEC7-1B7B-FA83A9B56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09" t="24705" r="11272" b="23593"/>
          <a:stretch>
            <a:fillRect/>
          </a:stretch>
        </p:blipFill>
        <p:spPr>
          <a:xfrm>
            <a:off x="9291916" y="3603250"/>
            <a:ext cx="2493241" cy="28158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4352C0-892A-560E-6242-31E96B72D9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22" t="64165" r="3168" b="522"/>
          <a:stretch>
            <a:fillRect/>
          </a:stretch>
        </p:blipFill>
        <p:spPr>
          <a:xfrm>
            <a:off x="9043741" y="914442"/>
            <a:ext cx="2989592" cy="23403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16D187-EB6F-8099-E9B8-66A13C9CF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560" y="1367326"/>
            <a:ext cx="8492903" cy="50791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Aggregation — Eliminating Sequential Round-Trips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511296"/>
            <a:ext cx="5120640" cy="1746504"/>
          </a:xfrm>
          <a:prstGeom prst="rect">
            <a:avLst/>
          </a:prstGeom>
          <a:solidFill>
            <a:srgbClr val="F3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36301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97764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page requires 4 API calls: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 /api/users/{uid}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 /api/applications/user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 /api/jobs/favorites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GET /api/users/FOI/{uid}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3611880"/>
            <a:ext cx="5303520" cy="1645920"/>
          </a:xfrm>
          <a:prstGeom prst="rect">
            <a:avLst/>
          </a:prstGeom>
          <a:solidFill>
            <a:srgbClr val="0B3B3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492240" y="371246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Future.wait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4059936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Future.wait([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getProfile, getApplications,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getFavorites, getInterests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482803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TTI = max(t1, t2, t3, t4) ≈ 200ms  →  ~75% reduction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1064240" cy="685800"/>
          </a:xfrm>
          <a:prstGeom prst="rect">
            <a:avLst/>
          </a:prstGeom>
          <a:solidFill>
            <a:srgbClr val="E4F0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Future.wait throws immediately if any call fails. Mitigation: error boundary wraps the profile notifier — sections show skeleton loaders on partial failure.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AEF0A-C628-E75C-3BE2-7F8826C56701}"/>
              </a:ext>
            </a:extLst>
          </p:cNvPr>
          <p:cNvSpPr txBox="1"/>
          <p:nvPr/>
        </p:nvSpPr>
        <p:spPr>
          <a:xfrm>
            <a:off x="3035830" y="4634562"/>
            <a:ext cx="2760783" cy="34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rtl="0" eaLnBrk="1" latinLnBrk="0" hangingPunct="1">
              <a:lnSpc>
                <a:spcPct val="130000"/>
              </a:lnSpc>
              <a:buNone/>
            </a:pPr>
            <a:r>
              <a:rPr lang="en-US" sz="1400" b="1" kern="1200" dirty="0">
                <a:solidFill>
                  <a:srgbClr val="1F2A2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Sequential → TTI ≈ ~800ms</a:t>
            </a:r>
            <a:endParaRPr 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96EF9B8-B0AD-F467-C5EC-EEAC597DE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1371600"/>
            <a:ext cx="10881360" cy="1661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Optimistic UI Updates &amp; Automatic Rollback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3566160"/>
          </a:xfrm>
          <a:prstGeom prst="rect">
            <a:avLst/>
          </a:prstGeom>
          <a:solidFill>
            <a:srgbClr val="F3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03720" y="1719072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B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FavoritesController Pattern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03720" y="214884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Cache current state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40880" y="24231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previousState = state.value;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03720" y="283464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Update UI immediately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0" y="31089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AsyncData(updatedList);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903720" y="352044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Fire async HTTP request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379476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4a. On success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40690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ref.invalidate(favoriteJobsProvider);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4480560"/>
            <a:ext cx="4526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4b. On failure → rollback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40880" y="475488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 AsyncData(previousState);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5303520"/>
            <a:ext cx="4892040" cy="777240"/>
          </a:xfrm>
          <a:prstGeom prst="rect">
            <a:avLst/>
          </a:prstGeom>
          <a:solidFill>
            <a:srgbClr val="0B3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534924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brief inconsistency on server rejection → mitigated by immediate rollback + visible error toast.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DE3F8FA-47BE-9748-BA80-FBD5CFB51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68" y="1224311"/>
            <a:ext cx="5828232" cy="53593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Multi-Currency — Reactive State Propagation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309360" y="1600200"/>
            <a:ext cx="5303520" cy="4114800"/>
          </a:xfrm>
          <a:prstGeom prst="rect">
            <a:avLst/>
          </a:prstGeom>
          <a:solidFill>
            <a:srgbClr val="F3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92240" y="17190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Currencies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206654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(default)  •  USD  •  SAR  •  extensible to any ISO 4217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25420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8803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User selects currency in Settings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PATCH /api/users/{uid} — backend sync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personalInformationProvider updated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Job feed providers watch: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92240" y="3913632"/>
            <a:ext cx="4937760" cy="548640"/>
          </a:xfrm>
          <a:prstGeom prst="rect">
            <a:avLst/>
          </a:prstGeom>
          <a:solidFill>
            <a:srgbClr val="0B3B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0" y="3931920"/>
            <a:ext cx="4754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ref.watch(personalInformationProvider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.select((u) =&gt; u.value?.currency));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92240" y="45537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Currency change → auto-invalidates → feed reloads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intl.simpleCurrency() formats: $1,200 / EGP 15,000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event bus. No refresh button. No imperative callbacks.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789E40E-697A-FA48-9629-A380C6BE8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069" y="1187224"/>
            <a:ext cx="2487082" cy="49407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Feedback &amp; Anonymous Submission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852160" y="1600200"/>
            <a:ext cx="5760720" cy="4480560"/>
          </a:xfrm>
          <a:prstGeom prst="rect">
            <a:avLst/>
          </a:prstGeom>
          <a:solidFill>
            <a:srgbClr val="F3F7F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80760" y="17830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exists
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shipped app has bugs that survive testing. Users need a low-friction channel to report issues directly from the device.
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
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workers to report employer misconduct, payment issues, or safety hazards safely without disclosing their identity, preventing retaliation.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&amp; Quality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B8B37CF-4FDE-0201-5A4F-B79BE382E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402" y="1362456"/>
            <a:ext cx="2308340" cy="459943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— State Engine vs UI Rendering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349240" cy="26517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Execution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6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~8.10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~14.50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(&lt; 16.6 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349240" cy="210312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in Heap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Memory 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 KB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Negligible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30,000+ Jobs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~45.0 MB+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OOM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526280"/>
            <a:ext cx="11064240" cy="2011680"/>
          </a:xfrm>
          <a:prstGeom prst="rect">
            <a:avLst/>
          </a:prstGeom>
          <a:solidFill>
            <a:srgbClr val="F3F7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777240" y="461772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Justification
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Riverpod state engine is computationally efficient at any scale. The bottleneck is Flutter's widget inflation — rendering 1,000+ job cards consumes significant RAM and causes frame jank on low-end Android hardware (the dominant device class in our target market).
</a:t>
            </a:r>
            <a:r>
              <a:rPr lang="en-US" sz="1200" b="1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Pagination: </a:t>
            </a: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auto-scroll pauses at 200 items in the widget tree → user taps "Load More" to continue. The 14.5ms benchmark proves the limit is device rendering — not state management.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Hierarchy &amp; Key Validation Scenarios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D5A4CB-9B6B-BFB1-2D5B-9E270967B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405" y="1234440"/>
            <a:ext cx="2060724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 — What Comes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ect">
            <a:avLst/>
          </a:prstGeom>
          <a:solidFill>
            <a:srgbClr val="E4F0E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onboarding — personal details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builder — education, experience, skills, certifications, languages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job feed (matching engine integration)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 by type, location, salary, arrangement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apply with optional cover letter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status tracker (real-time)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(Firebase FCM) + email opt-in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 jobs — optimistic UI + rollback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storage (flutter_secure_storage)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AuthInterceptor + AuthDialogManager semaphore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Multi-account cache isolation (12 providers on logout)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update system — mandatory + optional + 24-hr snooze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/ English localisation + full RTL support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display (EGP, USD, SAR) — reactive state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aggregation on profile page (Future.wait)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feedback with anonymous submission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 + hybrid pagination (200-item limit)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480560"/>
          </a:xfrm>
          <a:prstGeom prst="rect">
            <a:avLst/>
          </a:prstGeom>
          <a:solidFill>
            <a:srgbClr val="0B3B3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7548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 (employer ↔ job seeker) — requires WebSocket server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rating &amp; review system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scheduling in-app (calendar integration)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 — cached feed for low-connectivity areas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job search (NLP / vector similarity)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publication (post-pilot validation)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build + App Store submission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1427</Words>
  <Application>Microsoft Office PowerPoint</Application>
  <PresentationFormat>Widescreen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HireConnect — Mobile App</dc:title>
  <dc:subject>PptxGenJS Presentation</dc:subject>
  <dc:creator>HireConnect Team</dc:creator>
  <cp:lastModifiedBy>Abdelrahman Mohamed Ramadan</cp:lastModifiedBy>
  <cp:revision>3</cp:revision>
  <dcterms:created xsi:type="dcterms:W3CDTF">2026-07-05T08:01:11Z</dcterms:created>
  <dcterms:modified xsi:type="dcterms:W3CDTF">2026-07-05T13:11:25Z</dcterms:modified>
</cp:coreProperties>
</file>